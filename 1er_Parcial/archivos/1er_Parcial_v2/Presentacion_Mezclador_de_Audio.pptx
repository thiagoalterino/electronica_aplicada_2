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6"/>
    <p:sldId id="261" r:id="rId7"/>
    <p:sldId id="279" r:id="rId8"/>
    <p:sldId id="262" r:id="rId9"/>
    <p:sldId id="278" r:id="rId10"/>
    <p:sldId id="280" r:id="rId11"/>
    <p:sldId id="263" r:id="rId12"/>
    <p:sldId id="272" r:id="rId13"/>
    <p:sldId id="282" r:id="rId14"/>
    <p:sldId id="274" r:id="rId15"/>
    <p:sldId id="265" r:id="rId16"/>
    <p:sldId id="267" r:id="rId17"/>
    <p:sldId id="283" r:id="rId18"/>
    <p:sldId id="270" r:id="rId19"/>
    <p:sldId id="284" r:id="rId20"/>
    <p:sldId id="285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.com/lit/ds/symlink/tl072.pdf?ts=1786390387202&amp;ref_url=https%253A%252F%252Fwww.ti.com%252Fproduct%252Fes-mx%252FTL072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1er Parcial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Diseño de Mezclador de Audio</a:t>
            </a:r>
          </a:p>
          <a:p>
            <a:pPr algn="ctr">
              <a:defRPr sz="2000"/>
            </a:pPr>
            <a:r>
              <a:t>Electrónica Aplicada II</a:t>
            </a:r>
          </a:p>
          <a:p>
            <a:pPr algn="ctr">
              <a:defRPr sz="2000"/>
            </a:pPr>
            <a:r>
              <a:t>Cátedra R4053</a:t>
            </a:r>
          </a:p>
          <a:p>
            <a:pPr algn="ctr">
              <a:defRPr sz="2000"/>
            </a:pPr>
            <a:r>
              <a:t>Año 2026 · Grupo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Integrantes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Alterino Perazzo, Thiago</a:t>
            </a:r>
          </a:p>
          <a:p>
            <a:pPr>
              <a:spcAft>
                <a:spcPts val="1400"/>
              </a:spcAft>
              <a:defRPr sz="2000"/>
            </a:pPr>
            <a:r>
              <a:t>Aksman, Ezequiel Damian</a:t>
            </a:r>
          </a:p>
          <a:p>
            <a:pPr>
              <a:spcAft>
                <a:spcPts val="1400"/>
              </a:spcAft>
              <a:defRPr sz="2000"/>
            </a:pPr>
            <a:r>
              <a:t>Baldoni, Ivan Leonardo</a:t>
            </a:r>
          </a:p>
          <a:p>
            <a:pPr>
              <a:spcAft>
                <a:spcPts val="1400"/>
              </a:spcAft>
              <a:defRPr sz="2000"/>
            </a:pPr>
            <a:r>
              <a:t>Beltrame, Alejo David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Consigna y 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/>
              <a:t>Combinar</a:t>
            </a:r>
            <a:r>
              <a:rPr dirty="0"/>
              <a:t> dos entradas mono de 40 mV </a:t>
            </a:r>
            <a:r>
              <a:rPr dirty="0" err="1"/>
              <a:t>pico</a:t>
            </a:r>
            <a:r>
              <a:rPr dirty="0"/>
              <a:t> y 100 mV </a:t>
            </a:r>
            <a:r>
              <a:rPr dirty="0" err="1"/>
              <a:t>pico</a:t>
            </a:r>
            <a:r>
              <a:rPr dirty="0"/>
              <a:t>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/>
              <a:t>Incorporar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entrada de </a:t>
            </a:r>
            <a:r>
              <a:rPr dirty="0" err="1"/>
              <a:t>micrófono</a:t>
            </a:r>
            <a:r>
              <a:rPr dirty="0"/>
              <a:t> </a:t>
            </a:r>
            <a:r>
              <a:rPr dirty="0" err="1"/>
              <a:t>balanceada</a:t>
            </a:r>
            <a:r>
              <a:rPr dirty="0"/>
              <a:t> de 50 mV </a:t>
            </a:r>
            <a:r>
              <a:rPr dirty="0" err="1"/>
              <a:t>diferenciales</a:t>
            </a:r>
            <a:r>
              <a:rPr dirty="0"/>
              <a:t> con </a:t>
            </a:r>
            <a:r>
              <a:rPr dirty="0" smtClean="0"/>
              <a:t>2</a:t>
            </a:r>
            <a:r>
              <a:rPr lang="es-AR" dirty="0" smtClean="0"/>
              <a:t>.</a:t>
            </a:r>
            <a:r>
              <a:rPr dirty="0" smtClean="0"/>
              <a:t>5 </a:t>
            </a:r>
            <a:r>
              <a:rPr dirty="0"/>
              <a:t>V de continua.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/>
              <a:t>Unificar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niveles</a:t>
            </a:r>
            <a:r>
              <a:rPr dirty="0"/>
              <a:t> para </a:t>
            </a:r>
            <a:r>
              <a:rPr dirty="0" err="1"/>
              <a:t>obtener</a:t>
            </a:r>
            <a:r>
              <a:rPr dirty="0"/>
              <a:t> hasta 3 V </a:t>
            </a:r>
            <a:r>
              <a:rPr dirty="0" err="1"/>
              <a:t>pico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salida</a:t>
            </a:r>
            <a:r>
              <a:rPr dirty="0" smtClean="0"/>
              <a:t>.</a:t>
            </a:r>
            <a:endParaRPr lang="es-AR" dirty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lang="es-AR" dirty="0"/>
              <a:t>J</a:t>
            </a:r>
            <a:r>
              <a:rPr lang="es-AR" dirty="0" smtClean="0"/>
              <a:t>ustificar </a:t>
            </a:r>
            <a:r>
              <a:rPr lang="es-AR" dirty="0"/>
              <a:t>la selección de los amplificadores operacionales elegidos basándose en el análisis de sus características y parámetros </a:t>
            </a:r>
            <a:r>
              <a:rPr lang="es-AR" dirty="0" smtClean="0"/>
              <a:t>principales.</a:t>
            </a:r>
            <a:endParaRPr dirty="0" smtClean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 smtClean="0"/>
              <a:t>Diseñar</a:t>
            </a:r>
            <a:r>
              <a:rPr dirty="0" smtClean="0"/>
              <a:t> </a:t>
            </a:r>
            <a:r>
              <a:rPr dirty="0" err="1"/>
              <a:t>considerando</a:t>
            </a:r>
            <a:r>
              <a:rPr dirty="0"/>
              <a:t> </a:t>
            </a:r>
            <a:r>
              <a:rPr dirty="0" err="1"/>
              <a:t>aspectos</a:t>
            </a:r>
            <a:r>
              <a:rPr dirty="0"/>
              <a:t> </a:t>
            </a:r>
            <a:r>
              <a:rPr dirty="0" err="1"/>
              <a:t>eléctricos</a:t>
            </a:r>
            <a:r>
              <a:rPr dirty="0"/>
              <a:t>, </a:t>
            </a:r>
            <a:r>
              <a:rPr dirty="0" err="1"/>
              <a:t>térmicos</a:t>
            </a:r>
            <a:r>
              <a:rPr dirty="0"/>
              <a:t> e </a:t>
            </a:r>
            <a:r>
              <a:rPr dirty="0" err="1"/>
              <a:t>incertidumbres</a:t>
            </a:r>
            <a:r>
              <a:rPr dirty="0"/>
              <a:t>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comerciales</a:t>
            </a:r>
            <a:r>
              <a:rPr dirty="0"/>
              <a:t> </a:t>
            </a:r>
            <a:r>
              <a:rPr dirty="0" err="1"/>
              <a:t>normalizados</a:t>
            </a:r>
            <a:r>
              <a:rPr dirty="0" smtClean="0"/>
              <a:t>.</a:t>
            </a:r>
            <a:endParaRPr lang="es-AR" dirty="0" smtClean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lang="es-AR" dirty="0" smtClean="0"/>
              <a:t>Establecer </a:t>
            </a:r>
            <a:r>
              <a:rPr lang="es-AR" dirty="0"/>
              <a:t>los requerimientos técnicos </a:t>
            </a:r>
            <a:r>
              <a:rPr lang="es-AR" dirty="0" smtClean="0"/>
              <a:t>de la fuente </a:t>
            </a:r>
            <a:r>
              <a:rPr lang="es-AR" dirty="0"/>
              <a:t>de </a:t>
            </a:r>
            <a:r>
              <a:rPr lang="es-AR" dirty="0" smtClean="0"/>
              <a:t>alimentación.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Arquitectura propuesta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canales</a:t>
            </a:r>
            <a:r>
              <a:rPr dirty="0"/>
              <a:t> de entrada.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 err="1"/>
              <a:t>Preamplificación</a:t>
            </a:r>
            <a:r>
              <a:rPr dirty="0"/>
              <a:t> y </a:t>
            </a:r>
            <a:r>
              <a:rPr dirty="0" err="1"/>
              <a:t>acondicionamiento</a:t>
            </a:r>
            <a:r>
              <a:rPr dirty="0"/>
              <a:t> individual.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/>
              <a:t>Canales mono: </a:t>
            </a:r>
            <a:r>
              <a:rPr dirty="0" err="1"/>
              <a:t>configuración</a:t>
            </a:r>
            <a:r>
              <a:rPr dirty="0"/>
              <a:t> no </a:t>
            </a:r>
            <a:r>
              <a:rPr dirty="0" err="1"/>
              <a:t>inversora</a:t>
            </a:r>
            <a:r>
              <a:rPr dirty="0"/>
              <a:t>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 err="1"/>
              <a:t>Micrófono</a:t>
            </a:r>
            <a:r>
              <a:rPr dirty="0"/>
              <a:t> </a:t>
            </a:r>
            <a:r>
              <a:rPr dirty="0" err="1"/>
              <a:t>balanceado</a:t>
            </a:r>
            <a:r>
              <a:rPr dirty="0"/>
              <a:t>: </a:t>
            </a:r>
            <a:r>
              <a:rPr dirty="0" err="1"/>
              <a:t>amplificador</a:t>
            </a:r>
            <a:r>
              <a:rPr dirty="0"/>
              <a:t> instrumental </a:t>
            </a:r>
            <a:r>
              <a:rPr dirty="0" err="1"/>
              <a:t>discreto</a:t>
            </a:r>
            <a:r>
              <a:rPr dirty="0"/>
              <a:t> con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operacionales</a:t>
            </a:r>
            <a:r>
              <a:rPr dirty="0"/>
              <a:t>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 err="1"/>
              <a:t>Etapa</a:t>
            </a:r>
            <a:r>
              <a:rPr dirty="0"/>
              <a:t> final: </a:t>
            </a:r>
            <a:r>
              <a:rPr dirty="0" err="1"/>
              <a:t>sumador</a:t>
            </a:r>
            <a:r>
              <a:rPr dirty="0"/>
              <a:t> </a:t>
            </a:r>
            <a:r>
              <a:rPr dirty="0" err="1"/>
              <a:t>inversor</a:t>
            </a:r>
            <a:r>
              <a:rPr dirty="0"/>
              <a:t> de </a:t>
            </a:r>
            <a:r>
              <a:rPr dirty="0" err="1"/>
              <a:t>ganancia</a:t>
            </a:r>
            <a:r>
              <a:rPr dirty="0"/>
              <a:t> </a:t>
            </a:r>
            <a:r>
              <a:rPr dirty="0" err="1"/>
              <a:t>unitaria</a:t>
            </a:r>
            <a:r>
              <a:rPr dirty="0" smtClean="0"/>
              <a:t>.</a:t>
            </a:r>
            <a:endParaRPr lang="es-AR" dirty="0" smtClean="0"/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lang="es-AR" dirty="0" smtClean="0"/>
              <a:t>Fuente de alimentación simétrica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9389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s-AR" dirty="0" smtClean="0"/>
              <a:t>Circuito Propuesto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19</a:t>
            </a:r>
          </a:p>
        </p:txBody>
      </p:sp>
      <p:pic>
        <p:nvPicPr>
          <p:cNvPr id="7" name="image4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063833" y="1214140"/>
            <a:ext cx="7887393" cy="534668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3842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Preamplificación de canales mono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dirty="0"/>
              <a:t>Se </a:t>
            </a:r>
            <a:r>
              <a:rPr dirty="0" err="1"/>
              <a:t>emplea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configuración</a:t>
            </a:r>
            <a:r>
              <a:rPr dirty="0"/>
              <a:t> no </a:t>
            </a:r>
            <a:r>
              <a:rPr dirty="0" err="1"/>
              <a:t>inversora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/>
            </a:pPr>
            <a:r>
              <a:rPr dirty="0"/>
              <a:t>Canal Mono 1: </a:t>
            </a:r>
            <a:r>
              <a:rPr dirty="0" err="1"/>
              <a:t>señal</a:t>
            </a:r>
            <a:r>
              <a:rPr dirty="0"/>
              <a:t> de entrada de 40 mV </a:t>
            </a:r>
            <a:r>
              <a:rPr dirty="0" err="1"/>
              <a:t>pico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/>
            </a:pPr>
            <a:r>
              <a:rPr dirty="0" err="1"/>
              <a:t>Ganancia</a:t>
            </a:r>
            <a:r>
              <a:rPr dirty="0"/>
              <a:t> </a:t>
            </a:r>
            <a:r>
              <a:rPr dirty="0" err="1"/>
              <a:t>requerida</a:t>
            </a:r>
            <a:r>
              <a:rPr dirty="0"/>
              <a:t>: 25 </a:t>
            </a:r>
            <a:r>
              <a:rPr dirty="0" err="1"/>
              <a:t>veces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6</a:t>
            </a:r>
          </a:p>
        </p:txBody>
      </p:sp>
      <p:pic>
        <p:nvPicPr>
          <p:cNvPr id="7" name="image10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8680" y="2860635"/>
            <a:ext cx="4419600" cy="2428875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868680" y="5377904"/>
                <a:ext cx="7606146" cy="1096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dirty="0"/>
                  <a:t>Entonces se adopta:</a:t>
                </a:r>
              </a:p>
              <a:p>
                <a:r>
                  <a:rPr lang="es-A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=24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s-AR" dirty="0"/>
                  <a:t>  y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s-AR" dirty="0"/>
                  <a:t> 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AR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𝛺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𝛺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5377904"/>
                <a:ext cx="7606146" cy="1096326"/>
              </a:xfrm>
              <a:prstGeom prst="rect">
                <a:avLst/>
              </a:prstGeom>
              <a:blipFill>
                <a:blip r:embed="rId3"/>
                <a:stretch>
                  <a:fillRect l="-722" t="-27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Preamplificación de canales mono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dirty="0"/>
              <a:t>Se </a:t>
            </a:r>
            <a:r>
              <a:rPr dirty="0" err="1"/>
              <a:t>emplea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configuración</a:t>
            </a:r>
            <a:r>
              <a:rPr dirty="0"/>
              <a:t> no </a:t>
            </a:r>
            <a:r>
              <a:rPr dirty="0" err="1"/>
              <a:t>inversora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/>
            </a:pPr>
            <a:r>
              <a:rPr dirty="0"/>
              <a:t>Canal Mono </a:t>
            </a:r>
            <a:r>
              <a:rPr lang="es-AR" dirty="0" smtClean="0"/>
              <a:t>2</a:t>
            </a:r>
            <a:r>
              <a:rPr dirty="0" smtClean="0"/>
              <a:t>: </a:t>
            </a:r>
            <a:r>
              <a:rPr dirty="0" err="1"/>
              <a:t>señal</a:t>
            </a:r>
            <a:r>
              <a:rPr dirty="0"/>
              <a:t> de entrada de </a:t>
            </a:r>
            <a:r>
              <a:rPr lang="es-AR" dirty="0" smtClean="0"/>
              <a:t>100</a:t>
            </a:r>
            <a:r>
              <a:rPr dirty="0" smtClean="0"/>
              <a:t> </a:t>
            </a:r>
            <a:r>
              <a:rPr dirty="0"/>
              <a:t>mV </a:t>
            </a:r>
            <a:r>
              <a:rPr dirty="0" err="1"/>
              <a:t>pico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/>
            </a:pPr>
            <a:r>
              <a:rPr dirty="0" err="1"/>
              <a:t>Ganancia</a:t>
            </a:r>
            <a:r>
              <a:rPr dirty="0"/>
              <a:t> </a:t>
            </a:r>
            <a:r>
              <a:rPr dirty="0" err="1"/>
              <a:t>requerida</a:t>
            </a:r>
            <a:r>
              <a:rPr dirty="0"/>
              <a:t>: </a:t>
            </a:r>
            <a:r>
              <a:rPr lang="es-AR" dirty="0" smtClean="0"/>
              <a:t>10</a:t>
            </a:r>
            <a:r>
              <a:rPr dirty="0" smtClean="0"/>
              <a:t> </a:t>
            </a:r>
            <a:r>
              <a:rPr dirty="0" err="1"/>
              <a:t>veces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6</a:t>
            </a:r>
          </a:p>
        </p:txBody>
      </p:sp>
      <p:pic>
        <p:nvPicPr>
          <p:cNvPr id="7" name="image10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8680" y="2860635"/>
            <a:ext cx="4419600" cy="2428875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868680" y="5377904"/>
                <a:ext cx="7606146" cy="1096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dirty="0"/>
                  <a:t>Entonces se adopta:</a:t>
                </a:r>
              </a:p>
              <a:p>
                <a:r>
                  <a:rPr lang="es-A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=27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s-AR" dirty="0"/>
                  <a:t>  y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s-AR" dirty="0"/>
                  <a:t> 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AR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𝛺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𝛺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5377904"/>
                <a:ext cx="7606146" cy="1096326"/>
              </a:xfrm>
              <a:prstGeom prst="rect">
                <a:avLst/>
              </a:prstGeom>
              <a:blipFill>
                <a:blip r:embed="rId3"/>
                <a:stretch>
                  <a:fillRect l="-722" t="-27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88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5165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s-AR" sz="2400" dirty="0" smtClean="0"/>
              <a:t>Preamplificador Micrófono balanceado. </a:t>
            </a:r>
            <a:r>
              <a:rPr sz="2400" dirty="0" err="1" smtClean="0"/>
              <a:t>Amplificador</a:t>
            </a:r>
            <a:r>
              <a:rPr sz="2400" dirty="0" smtClean="0"/>
              <a:t> </a:t>
            </a:r>
            <a:r>
              <a:rPr sz="2400" dirty="0"/>
              <a:t>de </a:t>
            </a:r>
            <a:r>
              <a:rPr sz="2400" dirty="0" err="1"/>
              <a:t>instrumentación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1" y="1234440"/>
            <a:ext cx="7319356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dirty="0"/>
              <a:t>La entrada de </a:t>
            </a:r>
            <a:r>
              <a:rPr dirty="0" err="1"/>
              <a:t>micrófono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balanceada</a:t>
            </a:r>
            <a:r>
              <a:rPr dirty="0"/>
              <a:t> y </a:t>
            </a:r>
            <a:r>
              <a:rPr dirty="0" err="1"/>
              <a:t>posee</a:t>
            </a:r>
            <a:r>
              <a:rPr dirty="0"/>
              <a:t> 50 mV </a:t>
            </a:r>
            <a:r>
              <a:rPr dirty="0" err="1" smtClean="0"/>
              <a:t>diferenciales</a:t>
            </a:r>
            <a:r>
              <a:rPr dirty="0" smtClean="0"/>
              <a:t>.</a:t>
            </a:r>
            <a:endParaRPr lang="es-AR" dirty="0" smtClean="0"/>
          </a:p>
          <a:p>
            <a:pPr>
              <a:spcAft>
                <a:spcPts val="1400"/>
              </a:spcAft>
              <a:defRPr sz="2000"/>
            </a:pPr>
            <a:r>
              <a:rPr dirty="0" err="1" smtClean="0"/>
              <a:t>También</a:t>
            </a:r>
            <a:r>
              <a:rPr dirty="0" smtClean="0"/>
              <a:t>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 continua de </a:t>
            </a:r>
            <a:r>
              <a:rPr dirty="0" smtClean="0"/>
              <a:t>2</a:t>
            </a:r>
            <a:r>
              <a:rPr lang="es-AR" dirty="0" smtClean="0"/>
              <a:t>.</a:t>
            </a:r>
            <a:r>
              <a:rPr dirty="0" smtClean="0"/>
              <a:t>5 </a:t>
            </a:r>
            <a:r>
              <a:rPr dirty="0"/>
              <a:t>V.</a:t>
            </a:r>
          </a:p>
          <a:p>
            <a:pPr>
              <a:spcAft>
                <a:spcPts val="1400"/>
              </a:spcAft>
              <a:defRPr sz="20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7</a:t>
            </a:r>
          </a:p>
        </p:txBody>
      </p:sp>
      <p:pic>
        <p:nvPicPr>
          <p:cNvPr id="8" name="image7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97978" y="2316912"/>
            <a:ext cx="7518314" cy="4129608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Amplificador de instrumentación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965662" y="1681502"/>
                <a:ext cx="9757756" cy="3304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dirty="0"/>
                  <a:t>El amplificador instrumental está formado por dos etapas una etapa preamplificadora no inversora y una etapa diferencial, donde se restan las señales.</a:t>
                </a:r>
              </a:p>
              <a:p>
                <a:r>
                  <a:rPr lang="es-AR" dirty="0"/>
                  <a:t> </a:t>
                </a:r>
              </a:p>
              <a:p>
                <a:r>
                  <a:rPr lang="es-AR" dirty="0"/>
                  <a:t>La etapa no inversora tiene una ganancia de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2∗</m:t>
                        </m:r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s-AR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𝑚𝑣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AR" dirty="0"/>
                  <a:t>   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2∗</m:t>
                        </m:r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endParaRPr lang="es-AR" dirty="0" smtClean="0"/>
              </a:p>
              <a:p>
                <a:endParaRPr lang="es-AR" dirty="0"/>
              </a:p>
              <a:p>
                <a:r>
                  <a:rPr lang="es-AR" dirty="0"/>
                  <a:t>Se adopta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=9.53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s-AR" dirty="0"/>
                  <a:t>	y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s-AR" dirty="0"/>
                  <a:t>    →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2∗9.53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𝛺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𝛺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=20.06</m:t>
                    </m:r>
                  </m:oMath>
                </a14:m>
                <a:endParaRPr lang="es-AR" dirty="0" smtClean="0"/>
              </a:p>
              <a:p>
                <a:endParaRPr lang="es-AR" dirty="0"/>
              </a:p>
              <a:p>
                <a:r>
                  <a:rPr lang="es-AR" dirty="0"/>
                  <a:t>La etapa diferencial tiene una ganancia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A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AR" dirty="0"/>
              </a:p>
              <a:p>
                <a:r>
                  <a:rPr lang="es-AR" dirty="0"/>
                  <a:t>Se adopta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s-AR" dirty="0"/>
                  <a:t>	y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662" y="1681502"/>
                <a:ext cx="9757756" cy="3304494"/>
              </a:xfrm>
              <a:prstGeom prst="rect">
                <a:avLst/>
              </a:prstGeom>
              <a:blipFill>
                <a:blip r:embed="rId2"/>
                <a:stretch>
                  <a:fillRect l="-500" t="-110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29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338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s-AR" dirty="0" smtClean="0"/>
              <a:t>Mezclador. Sumador Inversor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1589114" y="4919764"/>
                <a:ext cx="8219901" cy="1633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dirty="0"/>
                  <a:t>La etapa sumadora tiene una ganancia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= −(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+ 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s-AR" dirty="0"/>
              </a:p>
              <a:p>
                <a:r>
                  <a:rPr lang="es-AR" dirty="0"/>
                  <a:t>Se adopta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= 10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s-AR" dirty="0" smtClean="0"/>
              </a:p>
              <a:p>
                <a:endParaRPr lang="es-AR" dirty="0"/>
              </a:p>
              <a:p>
                <a:r>
                  <a:rPr lang="es-AR" dirty="0"/>
                  <a:t>Entonces la ganancia de la etapa sumadora 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= −(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s-AR" dirty="0"/>
              </a:p>
              <a:p>
                <a:r>
                  <a:rPr lang="es-AR" b="1" dirty="0"/>
                  <a:t> </a:t>
                </a:r>
                <a:endParaRPr lang="es-AR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114" y="4919764"/>
                <a:ext cx="8219901" cy="1633139"/>
              </a:xfrm>
              <a:prstGeom prst="rect">
                <a:avLst/>
              </a:prstGeom>
              <a:blipFill>
                <a:blip r:embed="rId2"/>
                <a:stretch>
                  <a:fillRect l="-66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394354" y="1914085"/>
            <a:ext cx="5969635" cy="288544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808411" y="1122700"/>
                <a:ext cx="9781309" cy="67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dirty="0" smtClean="0"/>
                  <a:t>El sumador </a:t>
                </a:r>
                <a:r>
                  <a:rPr lang="es-AR" dirty="0"/>
                  <a:t>inversor de ganancia unitaria se encargará de realizar la mezcla, asegurando que la suma coherente máxima sea de exactamente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𝑝𝑖𝑐𝑜</m:t>
                        </m:r>
                      </m:sub>
                    </m:sSub>
                  </m:oMath>
                </a14:m>
                <a:r>
                  <a:rPr lang="es-AR" dirty="0"/>
                  <a:t>, es decir, 1 V + 1 V + 1 V.</a:t>
                </a:r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11" y="1122700"/>
                <a:ext cx="9781309" cy="671146"/>
              </a:xfrm>
              <a:prstGeom prst="rect">
                <a:avLst/>
              </a:prstGeom>
              <a:blipFill>
                <a:blip r:embed="rId4"/>
                <a:stretch>
                  <a:fillRect l="-561" t="-4545" b="-109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73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732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Protecciones</a:t>
            </a:r>
            <a:r>
              <a:rPr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/>
              <a:t>Filtro</a:t>
            </a:r>
            <a:r>
              <a:rPr dirty="0"/>
              <a:t> de continua: capacitor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 con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 smtClean="0"/>
              <a:t>señal</a:t>
            </a:r>
            <a:r>
              <a:rPr dirty="0" smtClean="0"/>
              <a:t>.</a:t>
            </a:r>
            <a:r>
              <a:rPr lang="es-AR" dirty="0" smtClean="0"/>
              <a:t> </a:t>
            </a:r>
            <a:r>
              <a:rPr dirty="0" smtClean="0"/>
              <a:t>El </a:t>
            </a:r>
            <a:r>
              <a:rPr dirty="0"/>
              <a:t>capacitor </a:t>
            </a:r>
            <a:r>
              <a:rPr dirty="0" err="1"/>
              <a:t>elimina</a:t>
            </a:r>
            <a:r>
              <a:rPr dirty="0"/>
              <a:t> la </a:t>
            </a:r>
            <a:r>
              <a:rPr dirty="0" err="1"/>
              <a:t>componente</a:t>
            </a:r>
            <a:r>
              <a:rPr dirty="0"/>
              <a:t> continua y </a:t>
            </a:r>
            <a:r>
              <a:rPr dirty="0" err="1"/>
              <a:t>permite</a:t>
            </a:r>
            <a:r>
              <a:rPr dirty="0"/>
              <a:t> el </a:t>
            </a:r>
            <a:r>
              <a:rPr dirty="0" err="1"/>
              <a:t>paso</a:t>
            </a:r>
            <a:r>
              <a:rPr dirty="0"/>
              <a:t> del </a:t>
            </a:r>
            <a:r>
              <a:rPr dirty="0" smtClean="0"/>
              <a:t>audio.</a:t>
            </a:r>
            <a:endParaRPr lang="es-AR" dirty="0" smtClean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dirty="0" smtClean="0"/>
              <a:t>Resistencia </a:t>
            </a:r>
            <a:r>
              <a:rPr dirty="0"/>
              <a:t>pull-down a </a:t>
            </a:r>
            <a:r>
              <a:rPr dirty="0" smtClean="0"/>
              <a:t>masa.</a:t>
            </a:r>
            <a:r>
              <a:rPr lang="es-AR" dirty="0" smtClean="0"/>
              <a:t> </a:t>
            </a:r>
            <a:r>
              <a:rPr dirty="0" smtClean="0"/>
              <a:t>Evita </a:t>
            </a:r>
            <a:r>
              <a:rPr dirty="0"/>
              <a:t>que las entradas </a:t>
            </a:r>
            <a:r>
              <a:rPr dirty="0" err="1"/>
              <a:t>queden</a:t>
            </a:r>
            <a:r>
              <a:rPr dirty="0"/>
              <a:t> </a:t>
            </a:r>
            <a:r>
              <a:rPr dirty="0" err="1"/>
              <a:t>flotantes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desconectadas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Fuente de alimentación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0649" y="1390671"/>
            <a:ext cx="10780222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dirty="0"/>
              <a:t>Fuente </a:t>
            </a:r>
            <a:r>
              <a:rPr dirty="0" err="1"/>
              <a:t>simétrica</a:t>
            </a:r>
            <a:r>
              <a:rPr dirty="0"/>
              <a:t> </a:t>
            </a:r>
            <a:r>
              <a:rPr dirty="0" err="1"/>
              <a:t>regulada</a:t>
            </a:r>
            <a:r>
              <a:rPr dirty="0"/>
              <a:t> </a:t>
            </a:r>
            <a:r>
              <a:rPr dirty="0" smtClean="0"/>
              <a:t>lineal</a:t>
            </a:r>
            <a:r>
              <a:rPr lang="es-AR" dirty="0" smtClean="0"/>
              <a:t>. Requerimientos:</a:t>
            </a:r>
            <a:endParaRPr dirty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u="sng" dirty="0" err="1"/>
              <a:t>Tensión</a:t>
            </a:r>
            <a:r>
              <a:rPr u="sng" dirty="0"/>
              <a:t> nominal</a:t>
            </a:r>
            <a:r>
              <a:rPr u="sng" dirty="0" smtClean="0"/>
              <a:t>:</a:t>
            </a:r>
            <a:r>
              <a:rPr lang="es-AR" dirty="0"/>
              <a:t> </a:t>
            </a:r>
            <a:r>
              <a:rPr lang="es-AR" dirty="0" smtClean="0"/>
              <a:t> ±</a:t>
            </a:r>
            <a:r>
              <a:rPr lang="es-AR" dirty="0"/>
              <a:t>5VDC (</a:t>
            </a:r>
            <a:r>
              <a:rPr lang="es-AR" dirty="0" smtClean="0"/>
              <a:t>La </a:t>
            </a:r>
            <a:r>
              <a:rPr lang="es-AR" dirty="0"/>
              <a:t>tensión de salida pico máxima (</a:t>
            </a:r>
            <a:r>
              <a:rPr lang="es-AR" dirty="0" err="1"/>
              <a:t>Op</a:t>
            </a:r>
            <a:r>
              <a:rPr lang="es-AR" dirty="0"/>
              <a:t>. TL072) </a:t>
            </a:r>
            <a:r>
              <a:rPr lang="es-AR" dirty="0" err="1"/>
              <a:t>Vom</a:t>
            </a:r>
            <a:r>
              <a:rPr lang="es-AR" dirty="0"/>
              <a:t> es ±</a:t>
            </a:r>
            <a:r>
              <a:rPr lang="es-AR" dirty="0" smtClean="0"/>
              <a:t>3.5v (</a:t>
            </a:r>
            <a:r>
              <a:rPr lang="es-AR" dirty="0" err="1"/>
              <a:t>Vcc</a:t>
            </a:r>
            <a:r>
              <a:rPr lang="es-AR" dirty="0"/>
              <a:t> = ±5v</a:t>
            </a:r>
            <a:r>
              <a:rPr lang="es-AR" dirty="0" smtClean="0"/>
              <a:t>) &gt; 3Vp</a:t>
            </a:r>
            <a:r>
              <a:rPr lang="es-AR" dirty="0"/>
              <a:t> </a:t>
            </a:r>
            <a:r>
              <a:rPr lang="es-AR" dirty="0" smtClean="0"/>
              <a:t>)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u="sng" dirty="0" err="1" smtClean="0"/>
              <a:t>Corriente</a:t>
            </a:r>
            <a:r>
              <a:rPr u="sng" dirty="0" smtClean="0"/>
              <a:t> </a:t>
            </a:r>
            <a:r>
              <a:rPr u="sng" dirty="0"/>
              <a:t>de </a:t>
            </a:r>
            <a:r>
              <a:rPr u="sng" dirty="0" err="1" smtClean="0"/>
              <a:t>salida</a:t>
            </a:r>
            <a:r>
              <a:rPr u="sng" dirty="0" smtClean="0"/>
              <a:t>:</a:t>
            </a:r>
            <a:r>
              <a:rPr dirty="0" smtClean="0"/>
              <a:t> </a:t>
            </a:r>
            <a:r>
              <a:rPr lang="es-AR" dirty="0" smtClean="0"/>
              <a:t> 500mA </a:t>
            </a:r>
            <a:r>
              <a:rPr lang="es-AR" dirty="0"/>
              <a:t>por </a:t>
            </a:r>
            <a:r>
              <a:rPr lang="es-AR" dirty="0" smtClean="0"/>
              <a:t>rama (La I = 5mA </a:t>
            </a:r>
            <a:r>
              <a:rPr lang="es-AR" dirty="0" err="1" smtClean="0"/>
              <a:t>aprox</a:t>
            </a:r>
            <a:r>
              <a:rPr lang="es-AR" dirty="0" smtClean="0"/>
              <a:t> por </a:t>
            </a:r>
            <a:r>
              <a:rPr lang="es-AR" dirty="0" err="1" smtClean="0"/>
              <a:t>OpAmp</a:t>
            </a:r>
            <a:r>
              <a:rPr lang="es-AR" dirty="0" smtClean="0"/>
              <a:t> (</a:t>
            </a:r>
            <a:r>
              <a:rPr lang="es-AR" dirty="0" err="1" smtClean="0"/>
              <a:t>Op</a:t>
            </a:r>
            <a:r>
              <a:rPr lang="es-AR" dirty="0"/>
              <a:t>. TL072)</a:t>
            </a:r>
            <a:r>
              <a:rPr lang="es-AR" dirty="0" smtClean="0"/>
              <a:t>. </a:t>
            </a:r>
            <a:r>
              <a:rPr lang="es-AR" dirty="0" err="1" smtClean="0"/>
              <a:t>Ios</a:t>
            </a:r>
            <a:r>
              <a:rPr lang="es-AR" dirty="0" smtClean="0"/>
              <a:t> (Short-</a:t>
            </a:r>
            <a:r>
              <a:rPr lang="es-AR" dirty="0" err="1" smtClean="0"/>
              <a:t>circuit</a:t>
            </a:r>
            <a:r>
              <a:rPr lang="es-AR" dirty="0" smtClean="0"/>
              <a:t> </a:t>
            </a:r>
            <a:r>
              <a:rPr lang="es-AR" dirty="0"/>
              <a:t>Output </a:t>
            </a:r>
            <a:r>
              <a:rPr lang="es-AR" dirty="0" err="1"/>
              <a:t>Current</a:t>
            </a:r>
            <a:r>
              <a:rPr lang="es-AR" dirty="0"/>
              <a:t>) = </a:t>
            </a:r>
            <a:r>
              <a:rPr lang="es-AR" dirty="0" smtClean="0"/>
              <a:t>26mA. 6 x </a:t>
            </a:r>
            <a:r>
              <a:rPr lang="es-AR" dirty="0"/>
              <a:t>26mA = </a:t>
            </a:r>
            <a:r>
              <a:rPr lang="es-AR" dirty="0" smtClean="0"/>
              <a:t>156mA )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lang="es-AR" dirty="0" smtClean="0"/>
              <a:t>La </a:t>
            </a:r>
            <a:r>
              <a:rPr lang="es-AR" dirty="0"/>
              <a:t>alimentación debe evitar </a:t>
            </a:r>
            <a:r>
              <a:rPr lang="es-AR" dirty="0" err="1" smtClean="0"/>
              <a:t>Ripple</a:t>
            </a:r>
            <a:r>
              <a:rPr lang="es-AR" dirty="0" smtClean="0"/>
              <a:t> </a:t>
            </a:r>
            <a:r>
              <a:rPr lang="es-AR" dirty="0"/>
              <a:t>y minimizar interferencias</a:t>
            </a:r>
            <a:r>
              <a:rPr lang="es-AR" dirty="0" smtClean="0"/>
              <a:t>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lang="es-AR" sz="2000" dirty="0"/>
              <a:t>Se utilizan reguladores LM7805 y </a:t>
            </a:r>
            <a:r>
              <a:rPr lang="es-AR" sz="2000" dirty="0" smtClean="0"/>
              <a:t>LM7905</a:t>
            </a:r>
          </a:p>
          <a:p>
            <a:pPr>
              <a:spcAft>
                <a:spcPts val="1400"/>
              </a:spcAft>
              <a:defRPr sz="20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Fuente de </a:t>
            </a:r>
            <a:r>
              <a:rPr dirty="0" err="1"/>
              <a:t>alimentación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833" y="1400696"/>
            <a:ext cx="10446327" cy="500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A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</a:p>
          <a:p>
            <a:pPr lvl="0"/>
            <a:endParaRPr lang="es-A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u="sng" dirty="0"/>
              <a:t>Regulación de línea </a:t>
            </a:r>
            <a:r>
              <a:rPr lang="es-AR" sz="1600" u="sng" dirty="0" smtClean="0"/>
              <a:t>(</a:t>
            </a:r>
            <a:r>
              <a:rPr lang="es-AR" sz="1600" u="sng" dirty="0"/>
              <a:t>∆</a:t>
            </a:r>
            <a:r>
              <a:rPr lang="es-AR" sz="1600" u="sng" dirty="0" err="1"/>
              <a:t>Vo</a:t>
            </a:r>
            <a:r>
              <a:rPr lang="es-AR" sz="1600" u="sng" dirty="0"/>
              <a:t>/∆</a:t>
            </a:r>
            <a:r>
              <a:rPr lang="es-AR" sz="1600" u="sng" dirty="0" err="1"/>
              <a:t>Vin</a:t>
            </a:r>
            <a:r>
              <a:rPr lang="es-AR" sz="1600" u="sng" dirty="0" smtClean="0"/>
              <a:t>):</a:t>
            </a:r>
            <a:r>
              <a:rPr lang="es-AR" sz="1600" dirty="0" smtClean="0"/>
              <a:t> </a:t>
            </a:r>
            <a:r>
              <a:rPr lang="es-AR" sz="1600" dirty="0"/>
              <a:t> </a:t>
            </a:r>
            <a:r>
              <a:rPr lang="es-AR" sz="1600" b="1" dirty="0" smtClean="0"/>
              <a:t>4.2mV/V  </a:t>
            </a:r>
            <a:r>
              <a:rPr lang="es-AR" sz="1600" dirty="0" smtClean="0"/>
              <a:t>(∆</a:t>
            </a:r>
            <a:r>
              <a:rPr lang="es-AR" sz="1600" dirty="0" err="1"/>
              <a:t>Vo</a:t>
            </a:r>
            <a:r>
              <a:rPr lang="es-AR" sz="1600" dirty="0"/>
              <a:t> = 50mV, ∆</a:t>
            </a:r>
            <a:r>
              <a:rPr lang="es-AR" sz="1600" dirty="0" err="1"/>
              <a:t>Vin</a:t>
            </a:r>
            <a:r>
              <a:rPr lang="es-AR" sz="1600" dirty="0"/>
              <a:t>: 8 ≤ VIN ≤ 20, </a:t>
            </a:r>
            <a:r>
              <a:rPr lang="es-AR" sz="1600" dirty="0" err="1"/>
              <a:t>Tj</a:t>
            </a:r>
            <a:r>
              <a:rPr lang="es-AR" sz="1600" dirty="0"/>
              <a:t> &lt; </a:t>
            </a:r>
            <a:r>
              <a:rPr lang="es-AR" sz="1600" dirty="0" smtClean="0"/>
              <a:t>125°C) </a:t>
            </a:r>
          </a:p>
          <a:p>
            <a:r>
              <a:rPr lang="es-AR" sz="16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u="sng" dirty="0" smtClean="0"/>
              <a:t>Regulación </a:t>
            </a:r>
            <a:r>
              <a:rPr lang="es-AR" sz="1600" u="sng" dirty="0"/>
              <a:t>de carga </a:t>
            </a:r>
            <a:r>
              <a:rPr lang="es-AR" sz="1600" u="sng" dirty="0" smtClean="0"/>
              <a:t>(</a:t>
            </a:r>
            <a:r>
              <a:rPr lang="es-AR" sz="1600" u="sng" dirty="0"/>
              <a:t>∆</a:t>
            </a:r>
            <a:r>
              <a:rPr lang="es-AR" sz="1600" u="sng" dirty="0" err="1"/>
              <a:t>Vo</a:t>
            </a:r>
            <a:r>
              <a:rPr lang="es-AR" sz="1600" u="sng" dirty="0"/>
              <a:t>/∆IL </a:t>
            </a:r>
            <a:r>
              <a:rPr lang="es-AR" sz="1600" u="sng" dirty="0" smtClean="0"/>
              <a:t>):</a:t>
            </a:r>
            <a:r>
              <a:rPr lang="es-AR" sz="1600" dirty="0" smtClean="0"/>
              <a:t>  </a:t>
            </a:r>
            <a:r>
              <a:rPr lang="es-AR" sz="1600" b="1" dirty="0" smtClean="0"/>
              <a:t>50mV/A  </a:t>
            </a:r>
            <a:r>
              <a:rPr lang="es-AR" sz="1600" dirty="0" smtClean="0"/>
              <a:t>(∆</a:t>
            </a:r>
            <a:r>
              <a:rPr lang="es-AR" sz="1600" dirty="0" err="1" smtClean="0"/>
              <a:t>Vo</a:t>
            </a:r>
            <a:r>
              <a:rPr lang="es-AR" sz="1600" dirty="0" smtClean="0"/>
              <a:t> </a:t>
            </a:r>
            <a:r>
              <a:rPr lang="es-AR" sz="1600" dirty="0"/>
              <a:t>= 50mV, </a:t>
            </a:r>
            <a:r>
              <a:rPr lang="es-AR" sz="1600" dirty="0" err="1"/>
              <a:t>Io</a:t>
            </a:r>
            <a:r>
              <a:rPr lang="es-AR" sz="1600" dirty="0"/>
              <a:t>:  5mA ≤ </a:t>
            </a:r>
            <a:r>
              <a:rPr lang="es-AR" sz="1600" dirty="0" err="1"/>
              <a:t>Io</a:t>
            </a:r>
            <a:r>
              <a:rPr lang="es-AR" sz="1600" dirty="0"/>
              <a:t> ≤ </a:t>
            </a:r>
            <a:r>
              <a:rPr lang="es-AR" sz="1600" dirty="0" smtClean="0"/>
              <a:t>1000mA)</a:t>
            </a:r>
            <a:endParaRPr lang="es-AR" sz="1600" dirty="0"/>
          </a:p>
          <a:p>
            <a:r>
              <a:rPr lang="es-AR" sz="1600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u="sng" dirty="0"/>
              <a:t>Tomando la peor condición:</a:t>
            </a:r>
            <a:r>
              <a:rPr lang="es-AR" sz="1600" dirty="0"/>
              <a:t> </a:t>
            </a:r>
            <a:r>
              <a:rPr lang="es-AR" sz="1600" dirty="0" smtClean="0"/>
              <a:t> </a:t>
            </a:r>
            <a:r>
              <a:rPr lang="es-AR" sz="1600" dirty="0" err="1" smtClean="0"/>
              <a:t>Vin</a:t>
            </a:r>
            <a:r>
              <a:rPr lang="es-AR" sz="1600" dirty="0" smtClean="0"/>
              <a:t> </a:t>
            </a:r>
            <a:r>
              <a:rPr lang="es-AR" sz="1600" dirty="0"/>
              <a:t>= 7.2v (20% de variación </a:t>
            </a:r>
            <a:r>
              <a:rPr lang="es-AR" sz="1600" dirty="0" err="1"/>
              <a:t>Vin</a:t>
            </a:r>
            <a:r>
              <a:rPr lang="es-AR" sz="1600" dirty="0"/>
              <a:t> = </a:t>
            </a:r>
            <a:r>
              <a:rPr lang="es-AR" sz="1600" dirty="0" smtClean="0"/>
              <a:t>9V),  </a:t>
            </a:r>
            <a:r>
              <a:rPr lang="es-AR" sz="1600" dirty="0" err="1"/>
              <a:t>Io</a:t>
            </a:r>
            <a:r>
              <a:rPr lang="es-AR" sz="1600" dirty="0"/>
              <a:t> = 0.5A </a:t>
            </a:r>
            <a:endParaRPr lang="es-AR" sz="1600" dirty="0" smtClean="0"/>
          </a:p>
          <a:p>
            <a:r>
              <a:rPr lang="es-AR" sz="1600" dirty="0" smtClean="0"/>
              <a:t>	→ </a:t>
            </a:r>
            <a:r>
              <a:rPr lang="es-AR" sz="1600" dirty="0" err="1"/>
              <a:t>Vo</a:t>
            </a:r>
            <a:r>
              <a:rPr lang="es-AR" sz="1600" dirty="0"/>
              <a:t> = 5</a:t>
            </a:r>
            <a:r>
              <a:rPr lang="es-AR" sz="1600" dirty="0" smtClean="0"/>
              <a:t>V - </a:t>
            </a:r>
            <a:r>
              <a:rPr lang="es-AR" sz="1600" dirty="0"/>
              <a:t>7.5mV - </a:t>
            </a:r>
            <a:r>
              <a:rPr lang="es-AR" sz="1600" dirty="0" smtClean="0"/>
              <a:t>25mV </a:t>
            </a:r>
            <a:r>
              <a:rPr lang="es-AR" sz="1600" dirty="0"/>
              <a:t>= </a:t>
            </a:r>
            <a:r>
              <a:rPr lang="es-AR" sz="1600" b="1" dirty="0" smtClean="0"/>
              <a:t>4.96V</a:t>
            </a:r>
            <a:r>
              <a:rPr lang="es-AR" sz="1600" dirty="0" smtClean="0"/>
              <a:t> </a:t>
            </a:r>
            <a:endParaRPr lang="es-AR" sz="1600" dirty="0"/>
          </a:p>
          <a:p>
            <a:r>
              <a:rPr lang="es-AR" sz="1600" dirty="0" smtClean="0"/>
              <a:t>	→ </a:t>
            </a:r>
            <a:r>
              <a:rPr lang="es-AR" sz="1600" dirty="0" err="1" smtClean="0"/>
              <a:t>Vom</a:t>
            </a:r>
            <a:r>
              <a:rPr lang="es-AR" sz="1600" dirty="0" smtClean="0"/>
              <a:t> </a:t>
            </a:r>
            <a:r>
              <a:rPr lang="es-AR" sz="1600" dirty="0"/>
              <a:t>(del </a:t>
            </a:r>
            <a:r>
              <a:rPr lang="es-AR" sz="1600" dirty="0" err="1"/>
              <a:t>OpAmp</a:t>
            </a:r>
            <a:r>
              <a:rPr lang="es-AR" sz="1600" dirty="0"/>
              <a:t>) = </a:t>
            </a:r>
            <a:r>
              <a:rPr lang="es-AR" sz="1600" dirty="0" smtClean="0"/>
              <a:t>4.96v </a:t>
            </a:r>
            <a:r>
              <a:rPr lang="es-AR" sz="1600" dirty="0"/>
              <a:t>- 1.5v (no es Rail to Rail) = </a:t>
            </a:r>
            <a:r>
              <a:rPr lang="es-AR" sz="1600" b="1" dirty="0" smtClean="0"/>
              <a:t>3.46v</a:t>
            </a:r>
            <a:r>
              <a:rPr lang="es-AR" sz="1600" dirty="0" smtClean="0"/>
              <a:t> </a:t>
            </a:r>
            <a:r>
              <a:rPr lang="es-AR" sz="1600" dirty="0"/>
              <a:t>&gt; </a:t>
            </a:r>
            <a:r>
              <a:rPr lang="es-AR" sz="1600" dirty="0" smtClean="0"/>
              <a:t>3Vp</a:t>
            </a:r>
            <a:endParaRPr lang="es-AR" sz="1600" dirty="0"/>
          </a:p>
          <a:p>
            <a:r>
              <a:rPr lang="es-AR" sz="1600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u="sng" dirty="0"/>
              <a:t>Variación de la tensión de salida:</a:t>
            </a:r>
            <a:r>
              <a:rPr lang="es-AR" sz="1600" dirty="0"/>
              <a:t> </a:t>
            </a:r>
            <a:r>
              <a:rPr lang="es-AR" sz="1600" dirty="0" smtClean="0"/>
              <a:t> (</a:t>
            </a:r>
            <a:r>
              <a:rPr lang="es-AR" sz="1600" dirty="0"/>
              <a:t>7.5mV + </a:t>
            </a:r>
            <a:r>
              <a:rPr lang="es-AR" sz="1600" dirty="0" smtClean="0"/>
              <a:t>25mV</a:t>
            </a:r>
            <a:r>
              <a:rPr lang="es-AR" sz="1600" dirty="0"/>
              <a:t>)/5V x 100% = </a:t>
            </a:r>
            <a:r>
              <a:rPr lang="es-AR" sz="1600" b="1" dirty="0"/>
              <a:t>0.75% &lt; 1</a:t>
            </a:r>
            <a:r>
              <a:rPr lang="es-AR" sz="1600" b="1" dirty="0" smtClean="0"/>
              <a:t>%</a:t>
            </a:r>
          </a:p>
          <a:p>
            <a:pPr lvl="0"/>
            <a:endParaRPr lang="es-AR" sz="1600" dirty="0"/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lang="es-AR" sz="1600" u="sng" dirty="0" err="1"/>
              <a:t>Ripple</a:t>
            </a:r>
            <a:r>
              <a:rPr lang="es-AR" sz="1600" u="sng" dirty="0"/>
              <a:t> y ruido calculados en la salida:</a:t>
            </a:r>
            <a:r>
              <a:rPr lang="es-AR" sz="1600" dirty="0"/>
              <a:t> </a:t>
            </a:r>
            <a:r>
              <a:rPr lang="es-AR" sz="1600" b="1" dirty="0" smtClean="0"/>
              <a:t>2.04mVpp </a:t>
            </a:r>
            <a:r>
              <a:rPr lang="es-AR" sz="1600" dirty="0" smtClean="0"/>
              <a:t>(</a:t>
            </a:r>
            <a:r>
              <a:rPr lang="es-AR" sz="1600" dirty="0" err="1"/>
              <a:t>Ripple</a:t>
            </a:r>
            <a:r>
              <a:rPr lang="es-AR" sz="1600" dirty="0"/>
              <a:t> </a:t>
            </a:r>
            <a:r>
              <a:rPr lang="es-AR" sz="1600" dirty="0" err="1"/>
              <a:t>Rejection</a:t>
            </a:r>
            <a:r>
              <a:rPr lang="es-AR" sz="1600" dirty="0"/>
              <a:t>: 62dB @ f = 120 Hz, </a:t>
            </a:r>
            <a:r>
              <a:rPr lang="es-AR" sz="1600" dirty="0" err="1"/>
              <a:t>Io</a:t>
            </a:r>
            <a:r>
              <a:rPr lang="es-AR" sz="1600" dirty="0"/>
              <a:t> ≤ 500 </a:t>
            </a:r>
            <a:r>
              <a:rPr lang="es-AR" sz="1600" dirty="0" err="1"/>
              <a:t>mA</a:t>
            </a:r>
            <a:r>
              <a:rPr lang="es-AR" sz="1600" dirty="0"/>
              <a:t>, 0°C &lt; </a:t>
            </a:r>
            <a:r>
              <a:rPr lang="es-AR" sz="1600" dirty="0" err="1"/>
              <a:t>Tj</a:t>
            </a:r>
            <a:r>
              <a:rPr lang="es-AR" sz="1600" dirty="0"/>
              <a:t> &lt; +</a:t>
            </a:r>
            <a:r>
              <a:rPr lang="es-AR" sz="1600" dirty="0" smtClean="0"/>
              <a:t>125°C, </a:t>
            </a:r>
            <a:r>
              <a:rPr lang="es-AR" sz="1600" dirty="0"/>
              <a:t>Output </a:t>
            </a:r>
            <a:r>
              <a:rPr lang="es-AR" sz="1600" dirty="0" err="1"/>
              <a:t>Noise</a:t>
            </a:r>
            <a:r>
              <a:rPr lang="es-AR" sz="1600" dirty="0"/>
              <a:t> </a:t>
            </a:r>
            <a:r>
              <a:rPr lang="es-AR" sz="1600" dirty="0" err="1"/>
              <a:t>Voltage</a:t>
            </a:r>
            <a:r>
              <a:rPr lang="es-AR" sz="1600" dirty="0"/>
              <a:t>: VN = 40uV @ TA =25°C, 10 Hz ≤ f ≤  100 </a:t>
            </a:r>
            <a:r>
              <a:rPr lang="es-AR" sz="1600" dirty="0" smtClean="0"/>
              <a:t>kHz)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lang="es-AR" sz="1600" u="sng" dirty="0" smtClean="0"/>
              <a:t>Potencia</a:t>
            </a:r>
            <a:r>
              <a:rPr lang="es-AR" sz="1600" u="sng" dirty="0"/>
              <a:t>:</a:t>
            </a:r>
            <a:r>
              <a:rPr lang="es-AR" sz="1600" dirty="0"/>
              <a:t> Tomando una Vi de 9V y </a:t>
            </a:r>
            <a:r>
              <a:rPr lang="es-AR" sz="1600" dirty="0" smtClean="0"/>
              <a:t>variación </a:t>
            </a:r>
            <a:r>
              <a:rPr lang="es-AR" sz="1600" dirty="0"/>
              <a:t>del 20%: Pd = (</a:t>
            </a:r>
            <a:r>
              <a:rPr lang="es-AR" sz="1600" dirty="0" err="1"/>
              <a:t>Vo</a:t>
            </a:r>
            <a:r>
              <a:rPr lang="es-AR" sz="1600" dirty="0"/>
              <a:t> - </a:t>
            </a:r>
            <a:r>
              <a:rPr lang="es-AR" sz="1600" dirty="0" err="1"/>
              <a:t>Vimax</a:t>
            </a:r>
            <a:r>
              <a:rPr lang="es-AR" sz="1600" dirty="0"/>
              <a:t>) x </a:t>
            </a:r>
            <a:r>
              <a:rPr lang="es-AR" sz="1600" dirty="0" err="1"/>
              <a:t>Io</a:t>
            </a:r>
            <a:r>
              <a:rPr lang="es-AR" sz="1600" dirty="0"/>
              <a:t> = │5V – 10.8V│x 156mA = </a:t>
            </a:r>
            <a:r>
              <a:rPr lang="es-AR" sz="1600" b="1" dirty="0"/>
              <a:t>1W</a:t>
            </a:r>
          </a:p>
          <a:p>
            <a:endParaRPr lang="es-AR" sz="1600" b="1" dirty="0"/>
          </a:p>
          <a:p>
            <a:pPr lvl="0"/>
            <a:endParaRPr lang="es-AR" sz="1600" dirty="0"/>
          </a:p>
          <a:p>
            <a:pPr>
              <a:spcAft>
                <a:spcPts val="1400"/>
              </a:spcAft>
              <a:defRPr sz="20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17</a:t>
            </a:r>
          </a:p>
        </p:txBody>
      </p:sp>
    </p:spTree>
    <p:extLst>
      <p:ext uri="{BB962C8B-B14F-4D97-AF65-F5344CB8AC3E}">
        <p14:creationId xmlns:p14="http://schemas.microsoft.com/office/powerpoint/2010/main" val="72589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59" y="320040"/>
            <a:ext cx="5778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s-AR" dirty="0"/>
              <a:t>Fuente de alimentación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3480" y="4552474"/>
            <a:ext cx="94252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dirty="0"/>
              <a:t>Tensión de salida nominal: ±5V DC (simétrica)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dirty="0"/>
              <a:t>Corriente de salida por rama: </a:t>
            </a:r>
            <a:r>
              <a:rPr lang="es-AR" dirty="0" err="1"/>
              <a:t>Io</a:t>
            </a:r>
            <a:r>
              <a:rPr lang="es-AR" dirty="0"/>
              <a:t> = 500mA.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dirty="0"/>
              <a:t>Tolerancia: ±1 %.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dirty="0"/>
              <a:t>Regulación de línea: 50mV en todo el rango o 4.2mV/V.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dirty="0"/>
              <a:t>Regulación de carga: 50mV/A para variaciones de carga de 0 a carga máxima.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dirty="0" err="1"/>
              <a:t>Ripple</a:t>
            </a:r>
            <a:r>
              <a:rPr lang="es-AR" dirty="0"/>
              <a:t> y Ruido: &lt;0.1%, 2mVpp @ </a:t>
            </a:r>
            <a:r>
              <a:rPr lang="es-AR" dirty="0" err="1"/>
              <a:t>Vcc</a:t>
            </a:r>
            <a:r>
              <a:rPr lang="es-AR" dirty="0"/>
              <a:t> = 5v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19</a:t>
            </a:r>
          </a:p>
        </p:txBody>
      </p:sp>
      <p:pic>
        <p:nvPicPr>
          <p:cNvPr id="7" name="image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73480" y="1644419"/>
            <a:ext cx="6536113" cy="2650490"/>
          </a:xfrm>
          <a:prstGeom prst="rect">
            <a:avLst/>
          </a:prstGeom>
          <a:ln/>
        </p:spPr>
      </p:pic>
      <p:sp>
        <p:nvSpPr>
          <p:cNvPr id="8" name="CuadroTexto 7"/>
          <p:cNvSpPr txBox="1"/>
          <p:nvPr/>
        </p:nvSpPr>
        <p:spPr>
          <a:xfrm>
            <a:off x="1173480" y="1316182"/>
            <a:ext cx="269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Circuito propuesto: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Error acumulado y peor caso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El sumador final posee ganancia nominal unitaria.</a:t>
            </a:r>
          </a:p>
          <a:p>
            <a:pPr>
              <a:spcAft>
                <a:spcPts val="1400"/>
              </a:spcAft>
              <a:defRPr sz="2000"/>
            </a:pPr>
            <a:r>
              <a:t>En el peor caso, su ganancia aumenta por las tolerancias.</a:t>
            </a:r>
          </a:p>
          <a:p>
            <a:pPr>
              <a:spcAft>
                <a:spcPts val="1400"/>
              </a:spcAft>
              <a:defRPr sz="2000"/>
            </a:pPr>
            <a:r>
              <a:t>Las tres señales pueden sumarse coherentemente.</a:t>
            </a:r>
          </a:p>
          <a:p>
            <a:pPr>
              <a:spcAft>
                <a:spcPts val="1400"/>
              </a:spcAft>
              <a:defRPr sz="2000"/>
            </a:pPr>
            <a:r>
              <a:t>La tensión máxima absoluta obtenida es aproximadamente 4,6 % superior al valor ideal.</a:t>
            </a:r>
          </a:p>
          <a:p>
            <a:pPr>
              <a:spcAft>
                <a:spcPts val="1400"/>
              </a:spcAft>
              <a:defRPr sz="2000"/>
            </a:pPr>
            <a:r>
              <a:t>El margen dinámico de la alimentación evita la saturación.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Selección de amplificadores operacionales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1233053" y="1179158"/>
                <a:ext cx="8215745" cy="39950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AR" dirty="0"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AR" sz="16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AR" b="1" dirty="0">
                    <a:latin typeface="Arial" panose="020B0604020202020204" pitchFamily="34" charset="0"/>
                    <a:ea typeface="Arial" panose="020B0604020202020204" pitchFamily="34" charset="0"/>
                  </a:rPr>
                  <a:t>TL072:</a:t>
                </a:r>
                <a:endParaRPr lang="es-AR" sz="16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0"/>
                  </a:spcAft>
                  <a:buFont typeface="Arial" panose="020B0604020202020204" pitchFamily="34" charset="0"/>
                  <a:buChar char="●"/>
                </a:pPr>
                <a:r>
                  <a:rPr lang="es-AR" dirty="0">
                    <a:latin typeface="Noto Sans Symbols"/>
                    <a:ea typeface="Noto Sans Symbols"/>
                    <a:cs typeface="Noto Sans Symbols"/>
                  </a:rPr>
                  <a:t>Producto ganancia - ancho de banda (GBW): De estas dos etapas la más exigente es la etapa de la señal mono 1, dado que la ganancia necesaria es de 25 veces. Esto implica que el GBW = 25·20KHz = 0.5MHz. Como el TL072 tiene un valor de GBW típico de 5.25MHz, este operacional cumple holgadamente con el requerimiento.</a:t>
                </a:r>
                <a:endParaRPr lang="es-AR" sz="1600" u="none" strike="noStrike" dirty="0">
                  <a:effectLst/>
                  <a:latin typeface="Noto Sans Symbols"/>
                  <a:ea typeface="Noto Sans Symbols"/>
                  <a:cs typeface="Noto Sans Symbols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0"/>
                  </a:spcAft>
                  <a:buFont typeface="Arial" panose="020B0604020202020204" pitchFamily="34" charset="0"/>
                  <a:buChar char="●"/>
                </a:pPr>
                <a:r>
                  <a:rPr lang="es-AR" dirty="0" err="1">
                    <a:latin typeface="Noto Sans Symbols"/>
                    <a:ea typeface="Noto Sans Symbols"/>
                    <a:cs typeface="Noto Sans Symbols"/>
                  </a:rPr>
                  <a:t>Slew</a:t>
                </a:r>
                <a:r>
                  <a:rPr lang="es-AR" dirty="0">
                    <a:latin typeface="Noto Sans Symbols"/>
                    <a:ea typeface="Noto Sans Symbols"/>
                    <a:cs typeface="Noto Sans Symbols"/>
                  </a:rPr>
                  <a:t> </a:t>
                </a:r>
                <a:r>
                  <a:rPr lang="es-AR" dirty="0" err="1">
                    <a:latin typeface="Noto Sans Symbols"/>
                    <a:ea typeface="Noto Sans Symbols"/>
                    <a:cs typeface="Noto Sans Symbols"/>
                  </a:rPr>
                  <a:t>Rate</a:t>
                </a:r>
                <a:r>
                  <a:rPr lang="es-AR" dirty="0">
                    <a:latin typeface="Noto Sans Symbols"/>
                    <a:ea typeface="Noto Sans Symbols"/>
                    <a:cs typeface="Noto Sans Symbols"/>
                  </a:rPr>
                  <a:t> (SR): El SR mínimo requerido es: </a:t>
                </a:r>
                <a14:m>
                  <m:oMath xmlns:m="http://schemas.openxmlformats.org/officeDocument/2006/math">
                    <m:r>
                      <a:rPr lang="es-AR" sz="1600" i="1" u="none" strike="noStrike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𝑆𝑅</m:t>
                    </m:r>
                    <m:r>
                      <a:rPr lang="es-AR" sz="1600" i="1" u="none" strike="noStrike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≥2∗</m:t>
                    </m:r>
                    <m:r>
                      <a:rPr lang="es-AR" sz="1600" i="1" u="none" strike="noStrike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𝜋</m:t>
                    </m:r>
                    <m:r>
                      <a:rPr lang="es-AR" sz="1600" i="1" u="none" strike="noStrike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sz="1600" i="1" u="none" strike="noStrike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s-AR" dirty="0">
                    <a:latin typeface="Noto Sans Symbols"/>
                    <a:ea typeface="Noto Sans Symbols"/>
                    <a:cs typeface="Noto Sans Symbols"/>
                  </a:rPr>
                  <a:t/>
                </a:r>
                <a:br>
                  <a:rPr lang="es-AR" dirty="0">
                    <a:latin typeface="Noto Sans Symbols"/>
                    <a:ea typeface="Noto Sans Symbols"/>
                    <a:cs typeface="Noto Sans Symbols"/>
                  </a:rPr>
                </a:br>
                <a:r>
                  <a:rPr lang="es-AR" dirty="0">
                    <a:latin typeface="Noto Sans Symbols"/>
                    <a:ea typeface="Noto Sans Symbols"/>
                    <a:cs typeface="Noto Sans Symbols"/>
                  </a:rPr>
                  <a:t>El SR del TL072 es de </a:t>
                </a:r>
                <a14:m>
                  <m:oMath xmlns:m="http://schemas.openxmlformats.org/officeDocument/2006/math">
                    <m:r>
                      <a:rPr lang="es-AR" sz="1600" i="1" u="none" strike="noStrike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20</m:t>
                    </m:r>
                    <m:f>
                      <m:fPr>
                        <m:ctrlP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𝜇</m:t>
                        </m:r>
                        <m:r>
                          <a:rPr lang="es-AR" sz="1600" i="1" u="none" strike="noStrike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s-AR" dirty="0">
                    <a:latin typeface="Noto Sans Symbols"/>
                    <a:ea typeface="Noto Sans Symbols"/>
                    <a:cs typeface="Noto Sans Symbols"/>
                  </a:rPr>
                  <a:t>, con lo cual este integrado cumple ampliamente con el requisito.</a:t>
                </a:r>
                <a:endParaRPr lang="es-AR" sz="1600" u="none" strike="noStrike" dirty="0">
                  <a:effectLst/>
                  <a:latin typeface="Noto Sans Symbols"/>
                  <a:ea typeface="Noto Sans Symbols"/>
                  <a:cs typeface="Noto Sans Symbols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AR" sz="1600" dirty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/>
                </a:r>
                <a:br>
                  <a:rPr lang="es-AR" sz="1600" dirty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</a:br>
                <a:r>
                  <a:rPr lang="es-AR" b="1" dirty="0"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AR" sz="16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053" y="1179158"/>
                <a:ext cx="8215745" cy="3995068"/>
              </a:xfrm>
              <a:prstGeom prst="rect">
                <a:avLst/>
              </a:prstGeom>
              <a:blipFill>
                <a:blip r:embed="rId2"/>
                <a:stretch>
                  <a:fillRect l="-593" r="-118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Selección de amplificadores operacionales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1233053" y="1179157"/>
                <a:ext cx="9864438" cy="36174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/>
                  <a:t>TL074:</a:t>
                </a:r>
                <a:endParaRPr lang="es-AR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Producto ganancia - ancho de banda (GBW): De estas dos etapas la más exigente es la etapa de la señal mono 1, dado que la ganancia necesaria es de 25 veces. Esto implica que el GBW = 20·20KHz = 0.4MHz. Como el TL074 tiene un valor de GBW típico de 5.25MHz, este operacional cumple holgadamente con el requerimiento.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s-AR" dirty="0" err="1"/>
                  <a:t>Slew</a:t>
                </a:r>
                <a:r>
                  <a:rPr lang="es-AR" dirty="0"/>
                  <a:t> </a:t>
                </a:r>
                <a:r>
                  <a:rPr lang="es-AR" dirty="0" err="1"/>
                  <a:t>Rate</a:t>
                </a:r>
                <a:r>
                  <a:rPr lang="es-AR" dirty="0"/>
                  <a:t> (SR): El SR mínimo requerido es: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𝑆𝑅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≥2∗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s-AR" dirty="0"/>
                  <a:t/>
                </a:r>
                <a:br>
                  <a:rPr lang="es-AR" dirty="0"/>
                </a:br>
                <a:r>
                  <a:rPr lang="es-AR" dirty="0"/>
                  <a:t>El SR del TL072 es de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20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s-AR" dirty="0"/>
                  <a:t>, con lo cual este integrado cumple ampliamente con el requisito.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Rechazo al modo común: La señal balanceada del micrófono tiene un nivel de continua de 2.5V la cual hay que eliminar en la etapa de </a:t>
                </a:r>
                <a:r>
                  <a:rPr lang="es-AR" dirty="0" err="1"/>
                  <a:t>preamplificación</a:t>
                </a:r>
                <a:r>
                  <a:rPr lang="es-AR" dirty="0"/>
                  <a:t>. El TL074 tiene un rechazo de modo común típicamente de 105 dB.</a:t>
                </a: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AR" sz="1600" dirty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/>
                </a:r>
                <a:br>
                  <a:rPr lang="es-AR" sz="1600" dirty="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</a:br>
                <a:r>
                  <a:rPr lang="es-AR" b="1" dirty="0"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AR" sz="16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053" y="1179157"/>
                <a:ext cx="9864438" cy="3617465"/>
              </a:xfrm>
              <a:prstGeom prst="rect">
                <a:avLst/>
              </a:prstGeom>
              <a:blipFill>
                <a:blip r:embed="rId2"/>
                <a:stretch>
                  <a:fillRect l="-494" t="-8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356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Simulación con modelos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15</a:t>
            </a:r>
          </a:p>
        </p:txBody>
      </p:sp>
      <p:pic>
        <p:nvPicPr>
          <p:cNvPr id="7" name="image10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40180" y="1234440"/>
            <a:ext cx="9281160" cy="5143500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Simulación con modelos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15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94360" y="1069785"/>
            <a:ext cx="1293147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Tres señales a </a:t>
            </a:r>
            <a:r>
              <a:rPr kumimoji="0" lang="es-AR" altLang="es-A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frec</a:t>
            </a:r>
            <a:r>
              <a:rPr kumimoji="0" lang="es-AR" altLang="es-A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iguales (F = 1khz):</a:t>
            </a:r>
            <a:endParaRPr kumimoji="0" lang="es-AR" altLang="es-A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066800" y="4633912"/>
            <a:ext cx="1293147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94360" y="3538629"/>
            <a:ext cx="515916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Tres señales a </a:t>
            </a:r>
            <a:r>
              <a:rPr kumimoji="0" lang="es-AR" altLang="es-A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frec</a:t>
            </a:r>
            <a:r>
              <a:rPr kumimoji="0" lang="es-AR" altLang="es-A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F1 = 100hz, F2 = 1khz, F3 = 5khz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40352" y="70869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13" name="image20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40352" y="3807711"/>
            <a:ext cx="7807903" cy="2867409"/>
          </a:xfrm>
          <a:prstGeom prst="rect">
            <a:avLst/>
          </a:prstGeom>
          <a:ln/>
        </p:spPr>
      </p:pic>
      <p:pic>
        <p:nvPicPr>
          <p:cNvPr id="14" name="image1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40352" y="1388932"/>
            <a:ext cx="7807903" cy="216427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0212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Simulación con modelos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15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89708" y="1218500"/>
            <a:ext cx="89361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Barrido en Frecuencia</a:t>
            </a:r>
            <a:endParaRPr kumimoji="0" lang="es-AR" alt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image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8" y="1739265"/>
            <a:ext cx="9802163" cy="473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3228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/>
            </a:r>
            <a:br>
              <a:rPr kumimoji="0" lang="es-AR" altLang="es-A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kumimoji="0" lang="es-AR" altLang="es-AR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/>
              <a:t>El </a:t>
            </a:r>
            <a:r>
              <a:rPr dirty="0" err="1"/>
              <a:t>mezclador</a:t>
            </a:r>
            <a:r>
              <a:rPr dirty="0"/>
              <a:t> </a:t>
            </a:r>
            <a:r>
              <a:rPr dirty="0" err="1"/>
              <a:t>integra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entradas con </a:t>
            </a:r>
            <a:r>
              <a:rPr dirty="0" err="1"/>
              <a:t>acondicionamiento</a:t>
            </a:r>
            <a:r>
              <a:rPr dirty="0"/>
              <a:t> individual.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 err="1"/>
              <a:t>Cada</a:t>
            </a:r>
            <a:r>
              <a:rPr dirty="0"/>
              <a:t> canal se </a:t>
            </a:r>
            <a:r>
              <a:rPr dirty="0" err="1"/>
              <a:t>adapta</a:t>
            </a:r>
            <a:r>
              <a:rPr dirty="0"/>
              <a:t> a 1 V </a:t>
            </a:r>
            <a:r>
              <a:rPr dirty="0" err="1"/>
              <a:t>pico</a:t>
            </a:r>
            <a:r>
              <a:rPr dirty="0"/>
              <a:t> antes de la </a:t>
            </a:r>
            <a:r>
              <a:rPr dirty="0" err="1"/>
              <a:t>suma</a:t>
            </a:r>
            <a:r>
              <a:rPr dirty="0"/>
              <a:t>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/>
              <a:t>El </a:t>
            </a:r>
            <a:r>
              <a:rPr dirty="0" err="1"/>
              <a:t>sumador</a:t>
            </a:r>
            <a:r>
              <a:rPr dirty="0"/>
              <a:t> </a:t>
            </a:r>
            <a:r>
              <a:rPr dirty="0" err="1"/>
              <a:t>inversor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obtener</a:t>
            </a:r>
            <a:r>
              <a:rPr dirty="0"/>
              <a:t> hasta 3 V </a:t>
            </a:r>
            <a:r>
              <a:rPr dirty="0" err="1"/>
              <a:t>pico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ideales</a:t>
            </a:r>
            <a:r>
              <a:rPr dirty="0"/>
              <a:t>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/>
              <a:t>La </a:t>
            </a:r>
            <a:r>
              <a:rPr dirty="0" err="1"/>
              <a:t>selección</a:t>
            </a:r>
            <a:r>
              <a:rPr dirty="0"/>
              <a:t> TL072/TL074 </a:t>
            </a:r>
            <a:r>
              <a:rPr dirty="0" err="1"/>
              <a:t>satisface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requerimientos</a:t>
            </a:r>
            <a:r>
              <a:rPr dirty="0"/>
              <a:t> de audio </a:t>
            </a:r>
            <a:r>
              <a:rPr dirty="0" err="1"/>
              <a:t>planteados</a:t>
            </a:r>
            <a:r>
              <a:rPr dirty="0"/>
              <a:t>.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/>
            </a:pPr>
            <a:r>
              <a:rPr dirty="0"/>
              <a:t>La </a:t>
            </a:r>
            <a:r>
              <a:rPr dirty="0" err="1"/>
              <a:t>fuente</a:t>
            </a:r>
            <a:r>
              <a:rPr dirty="0"/>
              <a:t> </a:t>
            </a:r>
            <a:r>
              <a:rPr dirty="0" err="1"/>
              <a:t>simétrica</a:t>
            </a:r>
            <a:r>
              <a:rPr dirty="0"/>
              <a:t> y el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térmico</a:t>
            </a:r>
            <a:r>
              <a:rPr dirty="0"/>
              <a:t> </a:t>
            </a:r>
            <a:r>
              <a:rPr dirty="0" err="1"/>
              <a:t>completan</a:t>
            </a:r>
            <a:r>
              <a:rPr dirty="0"/>
              <a:t> la </a:t>
            </a:r>
            <a:r>
              <a:rPr dirty="0" err="1"/>
              <a:t>validación</a:t>
            </a:r>
            <a:r>
              <a:rPr dirty="0"/>
              <a:t> del </a:t>
            </a:r>
            <a:r>
              <a:rPr dirty="0" err="1"/>
              <a:t>diseño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B4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[1] </a:t>
            </a:r>
            <a:r>
              <a:rPr lang="es-AR" dirty="0" err="1"/>
              <a:t>Datasheet</a:t>
            </a:r>
            <a:r>
              <a:rPr lang="es-AR" dirty="0"/>
              <a:t> Texas Instruments </a:t>
            </a:r>
            <a:r>
              <a:rPr lang="es-AR" dirty="0">
                <a:hlinkClick r:id="rId2"/>
              </a:rPr>
              <a:t>TL07x</a:t>
            </a:r>
            <a:endParaRPr lang="es-AR" dirty="0"/>
          </a:p>
          <a:p>
            <a:r>
              <a:rPr lang="es-AR" dirty="0"/>
              <a:t>[2] LM78XX Series </a:t>
            </a:r>
            <a:r>
              <a:rPr lang="es-AR" dirty="0" err="1"/>
              <a:t>Voltage</a:t>
            </a:r>
            <a:r>
              <a:rPr lang="es-AR" dirty="0"/>
              <a:t> </a:t>
            </a:r>
            <a:r>
              <a:rPr lang="es-AR" dirty="0" err="1"/>
              <a:t>Regulators</a:t>
            </a:r>
            <a:r>
              <a:rPr lang="es-AR" dirty="0"/>
              <a:t> - </a:t>
            </a:r>
            <a:r>
              <a:rPr lang="es-AR" dirty="0" err="1"/>
              <a:t>National</a:t>
            </a:r>
            <a:r>
              <a:rPr lang="es-AR" dirty="0"/>
              <a:t> Semiconductor</a:t>
            </a:r>
          </a:p>
          <a:p>
            <a:r>
              <a:rPr lang="es-AR" dirty="0"/>
              <a:t>[3] Reguladores Serie de tensión. Apunte de Cátedra Electrónica Aplicada II – UTN -FRBA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Electrónica Aplicada II · R4053 · 1er Parcial ·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1889</Words>
  <Application>Microsoft Office PowerPoint</Application>
  <PresentationFormat>Panorámica</PresentationFormat>
  <Paragraphs>147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Noto Sans Symbols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Ezequiel</dc:creator>
  <cp:keywords/>
  <dc:description>generated using python-pptx</dc:description>
  <cp:lastModifiedBy>Usuario de Windows</cp:lastModifiedBy>
  <cp:revision>67</cp:revision>
  <dcterms:created xsi:type="dcterms:W3CDTF">2013-01-27T09:14:16Z</dcterms:created>
  <dcterms:modified xsi:type="dcterms:W3CDTF">2026-08-12T16:38:48Z</dcterms:modified>
  <cp:category/>
</cp:coreProperties>
</file>